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896112"/>
            <a:ext cx="12191695" cy="54161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4519" y="1417320"/>
            <a:ext cx="845820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3000" b="1">
                <a:solidFill>
                  <a:srgbClr val="EB0000"/>
                </a:solidFill>
                <a:latin typeface="Aptos"/>
              </a:defRPr>
            </a:pPr>
            <a:r>
              <a:rPr dirty="0"/>
              <a:t>QUIZ BUZZER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2057400"/>
            <a:ext cx="41148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800" b="1">
                <a:solidFill>
                  <a:srgbClr val="0A2D64"/>
                </a:solidFill>
                <a:latin typeface="Aptos"/>
              </a:defRPr>
            </a:pPr>
            <a:r>
              <a:t>B.Tech. Project-I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2788920"/>
            <a:ext cx="8092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Aptos"/>
              </a:defRPr>
            </a:pPr>
            <a:r>
              <a:t>Pruthviraj Kute  |  Div. A  |  Roll No. 43  |  EU1252083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3172968"/>
            <a:ext cx="8092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Aptos"/>
              </a:defRPr>
            </a:pPr>
            <a:r>
              <a:t>Adarsh Maurya   |  Div. A  |  Roll No. 47  |  EU1252013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3557015"/>
            <a:ext cx="8092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Aptos"/>
              </a:defRPr>
            </a:pPr>
            <a:r>
              <a:t>Mubasshir Memon |  Div. A  |  Roll No. 49  |  EU1252082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3941063"/>
            <a:ext cx="8092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Aptos"/>
              </a:defRPr>
            </a:pPr>
            <a:r>
              <a:t>Shlok Mishra    |  Div. A  |  Roll No. 53  |  EU1252079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4526280"/>
            <a:ext cx="80924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Aptos"/>
              </a:defRPr>
            </a:pPr>
            <a:r>
              <a:rPr dirty="0"/>
              <a:t>Guide: </a:t>
            </a:r>
            <a:r>
              <a:rPr dirty="0" err="1"/>
              <a:t>Oniza</a:t>
            </a:r>
            <a:r>
              <a:rPr dirty="0"/>
              <a:t> Ridwan Shaikh  |  Designation: </a:t>
            </a:r>
            <a:r>
              <a:rPr lang="en-US" dirty="0"/>
              <a:t>Assistant Prof.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434840" y="5074920"/>
            <a:ext cx="333756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Aptos"/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13232"/>
            <a:ext cx="12191695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6400800" cy="4572000"/>
          </a:xfrm>
          <a:prstGeom prst="rect">
            <a:avLst/>
          </a:prstGeom>
          <a:noFill/>
        </p:spPr>
        <p:txBody>
          <a:bodyPr wrap="square" lIns="45720" tIns="18288" rIns="18288" bIns="18288">
            <a:noAutofit/>
          </a:bodyPr>
          <a:lstStyle/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t>Background of the Problem</a:t>
            </a:r>
          </a:p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t>Problem Statement</a:t>
            </a:r>
          </a:p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t>Motivation</a:t>
            </a:r>
          </a:p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t>Literature Review</a:t>
            </a:r>
          </a:p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t>Research Gap</a:t>
            </a:r>
          </a:p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t>Objectives</a:t>
            </a:r>
          </a:p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t>Proposed Methodology</a:t>
            </a:r>
          </a:p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t>System Architecture / Flow Diagram</a:t>
            </a:r>
          </a:p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t>Technologies and Resources</a:t>
            </a:r>
          </a:p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t>Project Schedule (Gantt Chart)</a:t>
            </a:r>
          </a:p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1143000"/>
            <a:ext cx="3977639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60920" y="1143000"/>
            <a:ext cx="64008" cy="1600200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25512" y="1252728"/>
            <a:ext cx="37033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t>PROJECT IN ONE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5512" y="1645920"/>
            <a:ext cx="3685031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500"/>
              <a:t>A four-player, hardware-only quiz buzzer that latches the first valid button press using AND-gate logic and D flip-flops, then blocks later inputs until reset.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2971800"/>
            <a:ext cx="3977639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60920" y="2971800"/>
            <a:ext cx="64008" cy="1600200"/>
          </a:xfrm>
          <a:prstGeom prst="rect">
            <a:avLst/>
          </a:prstGeom>
          <a:solidFill>
            <a:srgbClr val="0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25512" y="3081528"/>
            <a:ext cx="37033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t>DESIGN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5512" y="3474720"/>
            <a:ext cx="3685031" cy="1005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500"/>
              <a:t>No microcontroller or software. The prototype uses combinational logic for gating and sequential logic for storing the winner 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832" y="713232"/>
            <a:ext cx="12191695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6903720" cy="2971800"/>
          </a:xfrm>
          <a:prstGeom prst="rect">
            <a:avLst/>
          </a:prstGeom>
          <a:noFill/>
        </p:spPr>
        <p:txBody>
          <a:bodyPr wrap="square" lIns="45720" tIns="18288" rIns="18288" bIns="18288">
            <a:noAutofit/>
          </a:bodyPr>
          <a:lstStyle/>
          <a:p>
            <a:pPr>
              <a:buChar char="•"/>
              <a:defRPr sz="1700">
                <a:solidFill>
                  <a:srgbClr val="000000"/>
                </a:solidFill>
                <a:latin typeface="Aptos"/>
              </a:defRPr>
            </a:pPr>
            <a:r>
              <a:rPr sz="2400" dirty="0"/>
              <a:t>Quiz competitions need a clear way to identify which participant responded first.</a:t>
            </a:r>
          </a:p>
          <a:p>
            <a:pPr>
              <a:buChar char="•"/>
              <a:defRPr sz="1700">
                <a:solidFill>
                  <a:srgbClr val="000000"/>
                </a:solidFill>
                <a:latin typeface="Aptos"/>
              </a:defRPr>
            </a:pPr>
            <a:r>
              <a:rPr sz="2400" dirty="0"/>
              <a:t>With multiple people pressing almost together, visual/manual judgment can be difficult.</a:t>
            </a:r>
          </a:p>
          <a:p>
            <a:pPr>
              <a:buChar char="•"/>
              <a:defRPr sz="1700">
                <a:solidFill>
                  <a:srgbClr val="000000"/>
                </a:solidFill>
                <a:latin typeface="Aptos"/>
              </a:defRPr>
            </a:pPr>
            <a:r>
              <a:rPr sz="2400" dirty="0"/>
              <a:t>An electronic buzzer can give an immediate visual and audible indication of the registered response.</a:t>
            </a:r>
          </a:p>
          <a:p>
            <a:pPr>
              <a:buChar char="•"/>
              <a:defRPr sz="1700">
                <a:solidFill>
                  <a:srgbClr val="000000"/>
                </a:solidFill>
                <a:latin typeface="Aptos"/>
              </a:defRPr>
            </a:pPr>
            <a:r>
              <a:rPr sz="2400" dirty="0"/>
              <a:t>Our prototype demonstrates this using only discrete digital logic ICs rather than a microcontroller.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1005840"/>
            <a:ext cx="35661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1005840"/>
            <a:ext cx="64008" cy="1325880"/>
          </a:xfrm>
          <a:prstGeom prst="rect">
            <a:avLst/>
          </a:prstGeom>
          <a:solidFill>
            <a:srgbClr val="0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82712" y="1115568"/>
            <a:ext cx="32918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t>REAL-WORLD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2712" y="1508760"/>
            <a:ext cx="3273552" cy="7315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500"/>
              <a:t>Classroom quizzes • Inter-college competitions • Game-show style activities • Training and team activities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265176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2651760"/>
            <a:ext cx="64008" cy="1417320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82712" y="2761488"/>
            <a:ext cx="32918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712" y="3154680"/>
            <a:ext cx="3273552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500"/>
              <a:t>First press → latch winner → lock remaining inputs → indicate winner → reset for next round.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4343400"/>
            <a:ext cx="3566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4343400"/>
            <a:ext cx="64008" cy="1417320"/>
          </a:xfrm>
          <a:prstGeom prst="rect">
            <a:avLst/>
          </a:prstGeom>
          <a:solidFill>
            <a:srgbClr val="14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82712" y="4453128"/>
            <a:ext cx="32918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t>WHAT WE ARE DEMONSTRATING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4846320"/>
            <a:ext cx="3273552" cy="7498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350"/>
              <a:t>Practical use of combinational logic, sequential logic, asynchronous reset, LED indication and transistor-driven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13232"/>
            <a:ext cx="12191695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29260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800" b="1">
                <a:solidFill>
                  <a:srgbClr val="EB0000"/>
                </a:solidFill>
                <a:latin typeface="Aptos"/>
              </a:defRPr>
            </a:pPr>
            <a:r>
              <a:t>DESIGN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5577840" cy="3291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Aptos"/>
              </a:defRPr>
            </a:pPr>
            <a:r>
              <a:rPr sz="2000" dirty="0"/>
              <a:t>Design and implement a four-player quiz buzzer that can:</a:t>
            </a:r>
            <a:br>
              <a:rPr sz="2000" dirty="0"/>
            </a:br>
            <a:br>
              <a:rPr sz="2000" dirty="0"/>
            </a:br>
            <a:r>
              <a:rPr sz="2000" dirty="0"/>
              <a:t>• detect the first valid button press,</a:t>
            </a:r>
            <a:br>
              <a:rPr sz="2000" dirty="0"/>
            </a:br>
            <a:r>
              <a:rPr sz="2000" dirty="0"/>
              <a:t>• latch that winner,</a:t>
            </a:r>
            <a:br>
              <a:rPr sz="2000" dirty="0"/>
            </a:br>
            <a:r>
              <a:rPr sz="2000" dirty="0"/>
              <a:t>• prevent subsequent player inputs from changing the result,</a:t>
            </a:r>
            <a:br>
              <a:rPr sz="2000" dirty="0"/>
            </a:br>
            <a:r>
              <a:rPr sz="2000" dirty="0"/>
              <a:t>• provide immediate LED + buzzer feedback, and</a:t>
            </a:r>
            <a:br>
              <a:rPr sz="2000" dirty="0"/>
            </a:br>
            <a:r>
              <a:rPr sz="2000" dirty="0"/>
              <a:t>• return to the ready state through a manual reset.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9400" y="1051560"/>
            <a:ext cx="47091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29400" y="1051560"/>
            <a:ext cx="64008" cy="2423160"/>
          </a:xfrm>
          <a:prstGeom prst="rect">
            <a:avLst/>
          </a:prstGeom>
          <a:solidFill>
            <a:srgbClr val="0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93992" y="1161288"/>
            <a:ext cx="44348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3992" y="1554480"/>
            <a:ext cx="4416552" cy="1828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450"/>
              <a:t>• No microcontroller</a:t>
            </a:r>
            <a:br/>
            <a:r>
              <a:rPr sz="1450"/>
              <a:t>• No programming/software</a:t>
            </a:r>
            <a:br/>
            <a:r>
              <a:rPr sz="1450"/>
              <a:t>• Four player inputs</a:t>
            </a:r>
            <a:br/>
            <a:r>
              <a:rPr sz="1450"/>
              <a:t>• One common reset</a:t>
            </a:r>
            <a:br/>
            <a:r>
              <a:rPr sz="1450"/>
              <a:t>• Breadboard implementation</a:t>
            </a:r>
            <a:br/>
            <a:r>
              <a:rPr sz="1450"/>
              <a:t>• Low-voltage DC operation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3703320"/>
            <a:ext cx="4709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29400" y="3703320"/>
            <a:ext cx="64008" cy="1508760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93992" y="3813048"/>
            <a:ext cx="443484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4206240"/>
            <a:ext cx="4416552" cy="914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450"/>
              <a:t>At most one player's state remains latched during a round. Later button presses are ignored until the administrator/reset button clears the stored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13232"/>
            <a:ext cx="12191695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800" b="1">
                <a:solidFill>
                  <a:srgbClr val="0A2D64"/>
                </a:solidFill>
                <a:latin typeface="Aptos"/>
              </a:defRPr>
            </a:pPr>
            <a:r>
              <a:t>We did not begin from a claim that existing quiz buzzers are unusable.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34747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64008" cy="2057400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709928"/>
            <a:ext cx="32004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t>WHY THIS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03120"/>
            <a:ext cx="3182112" cy="1463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500"/>
              <a:t>The topic was selected as a manageable hardware project that lets us turn digital-logic theory into a working physical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00200"/>
            <a:ext cx="34747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64008" cy="2057400"/>
          </a:xfrm>
          <a:prstGeom prst="rect">
            <a:avLst/>
          </a:prstGeom>
          <a:solidFill>
            <a:srgbClr val="0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709928"/>
            <a:ext cx="32004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t>WHY HARDWARE-ONLY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103120"/>
            <a:ext cx="3182112" cy="1463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500"/>
              <a:t>Using AND gates and D flip-flops makes the first-response mechanism visible and explainable at circuit level instead of hiding it inside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600200"/>
            <a:ext cx="34747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600200"/>
            <a:ext cx="64008" cy="2057400"/>
          </a:xfrm>
          <a:prstGeom prst="rect">
            <a:avLst/>
          </a:prstGeom>
          <a:solidFill>
            <a:srgbClr val="14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1709928"/>
            <a:ext cx="32004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rPr sz="1350"/>
              <a:t>WHY IT MATTERS ACADEMICALLY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221992"/>
            <a:ext cx="3182112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450"/>
              <a:t>The project combines combinational logic, sequential logic, latching, reset behavior, current limiting and output driving in one demonstrable prototype.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343400"/>
            <a:ext cx="850392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2000" b="1">
                <a:solidFill>
                  <a:srgbClr val="EB0000"/>
                </a:solidFill>
                <a:latin typeface="Aptos"/>
              </a:defRPr>
            </a:pPr>
            <a:r>
              <a:t>Project motivation: learn by building a real first-response digital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13232"/>
            <a:ext cx="12191695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286000" cy="438912"/>
          </a:xfrm>
          <a:prstGeom prst="rect">
            <a:avLst/>
          </a:prstGeom>
          <a:solidFill>
            <a:srgbClr val="E7E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219456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100" b="1">
                <a:solidFill>
                  <a:srgbClr val="0A2D64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2286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19456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Sundaresan &amp; Perumal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59152"/>
            <a:ext cx="2286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404872"/>
            <a:ext cx="219456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Havizul &amp; Zulkarnain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163824"/>
            <a:ext cx="2286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209544"/>
            <a:ext cx="219456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Yan &amp; Xu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968496"/>
            <a:ext cx="2286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014215"/>
            <a:ext cx="219456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Konade et 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1143000"/>
            <a:ext cx="731520" cy="438912"/>
          </a:xfrm>
          <a:prstGeom prst="rect">
            <a:avLst/>
          </a:prstGeom>
          <a:solidFill>
            <a:srgbClr val="E7E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79" y="1188720"/>
            <a:ext cx="6400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100" b="1">
                <a:solidFill>
                  <a:srgbClr val="0A2D64"/>
                </a:solidFill>
                <a:latin typeface="Aptos"/>
              </a:defRPr>
            </a:pPr>
            <a:r>
              <a:t>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1554480"/>
            <a:ext cx="731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79" y="1600200"/>
            <a:ext cx="64008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2016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2359152"/>
            <a:ext cx="731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79" y="2404872"/>
            <a:ext cx="64008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2023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3163824"/>
            <a:ext cx="731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79" y="3209544"/>
            <a:ext cx="64008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3968496"/>
            <a:ext cx="731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26079" y="4014215"/>
            <a:ext cx="64008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1143000"/>
            <a:ext cx="2468880" cy="438912"/>
          </a:xfrm>
          <a:prstGeom prst="rect">
            <a:avLst/>
          </a:prstGeom>
          <a:solidFill>
            <a:srgbClr val="E7E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0" y="1188720"/>
            <a:ext cx="23774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100" b="1">
                <a:solidFill>
                  <a:srgbClr val="0A2D64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1554480"/>
            <a:ext cx="2468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0" y="1600200"/>
            <a:ext cx="237744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Low-cost quiz-controller approaches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11880" y="2359152"/>
            <a:ext cx="2468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0" y="2404872"/>
            <a:ext cx="237744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NodeMCU ESP8266 + buttons/LED/buzzer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3163824"/>
            <a:ext cx="2468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0" y="3209544"/>
            <a:ext cx="237744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74LS175 + AND-gate hardware buzzer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11880" y="3968496"/>
            <a:ext cx="2468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0" y="4014215"/>
            <a:ext cx="237744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Arduino Nano + LCD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1143000"/>
            <a:ext cx="2743200" cy="438912"/>
          </a:xfrm>
          <a:prstGeom prst="rect">
            <a:avLst/>
          </a:prstGeom>
          <a:solidFill>
            <a:srgbClr val="E7E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6480" y="1188720"/>
            <a:ext cx="265176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100" b="1">
                <a:solidFill>
                  <a:srgbClr val="0A2D64"/>
                </a:solidFill>
                <a:latin typeface="Aptos"/>
              </a:defRPr>
            </a:pPr>
            <a:r>
              <a:t>Relevant finding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155448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0" y="1600200"/>
            <a:ext cx="265176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Addresses first-responder detection and affordability in quiz settings.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2359152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26480" y="2404872"/>
            <a:ext cx="265176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Microcontroller can detect and lock the first response.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3163824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26480" y="3209544"/>
            <a:ext cx="265176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Four-person hardware circuit uses flip-flop memory and AND-gate locking.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3968496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26480" y="4014215"/>
            <a:ext cx="265176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Automated first-input detection, lockout and display.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23960" y="1143000"/>
            <a:ext cx="2743200" cy="438912"/>
          </a:xfrm>
          <a:prstGeom prst="rect">
            <a:avLst/>
          </a:prstGeom>
          <a:solidFill>
            <a:srgbClr val="E7E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69680" y="1188720"/>
            <a:ext cx="265176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100" b="1">
                <a:solidFill>
                  <a:srgbClr val="0A2D64"/>
                </a:solidFill>
                <a:latin typeface="Aptos"/>
              </a:defRPr>
            </a:pPr>
            <a:r>
              <a:t>Limitation / difference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3960" y="1554480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69680" y="1600200"/>
            <a:ext cx="265176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Different circuit approach; not our exact IC combination.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23960" y="2359152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69680" y="2404872"/>
            <a:ext cx="265176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Requires programmable controller/software.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23960" y="3163824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69680" y="3209544"/>
            <a:ext cx="265176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Uses different IC family/design.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23960" y="3968496"/>
            <a:ext cx="2743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0" y="4014215"/>
            <a:ext cx="2651760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930" b="0">
                <a:solidFill>
                  <a:srgbClr val="000000"/>
                </a:solidFill>
                <a:latin typeface="Aptos"/>
              </a:defRPr>
            </a:pPr>
            <a:r>
              <a:rPr sz="1000"/>
              <a:t>Microcontroller-based; more features than our hardware-only scope.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4800600"/>
            <a:ext cx="1078992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300" b="1">
                <a:solidFill>
                  <a:srgbClr val="EB0000"/>
                </a:solidFill>
                <a:latin typeface="Aptos"/>
              </a:defRPr>
            </a:pPr>
            <a:r>
              <a:rPr sz="1400"/>
              <a:t>Literature indicates that first-response latching is commonly implemented with programmable controllers or discrete sequential logic; our project focuses on the latter.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13232"/>
            <a:ext cx="12191695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600" b="1">
                <a:solidFill>
                  <a:srgbClr val="0A2D64"/>
                </a:solidFill>
                <a:latin typeface="Aptos"/>
              </a:defRPr>
            </a:pPr>
            <a:r>
              <a:t>We treat this as a design gap for our project scope, not as a claim of novel research.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5349240" cy="502920"/>
          </a:xfrm>
          <a:prstGeom prst="rect">
            <a:avLst/>
          </a:prstGeom>
          <a:solidFill>
            <a:srgbClr val="E7E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5029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500" b="1">
                <a:solidFill>
                  <a:srgbClr val="0A2D64"/>
                </a:solidFill>
                <a:latin typeface="Aptos"/>
              </a:defRPr>
            </a:pPr>
            <a:r>
              <a:t>Existing Work / Common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554480"/>
            <a:ext cx="5349240" cy="502920"/>
          </a:xfrm>
          <a:prstGeom prst="rect">
            <a:avLst/>
          </a:prstGeom>
          <a:solidFill>
            <a:srgbClr val="E7E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664208"/>
            <a:ext cx="5029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500" b="1">
                <a:solidFill>
                  <a:srgbClr val="0A2D64"/>
                </a:solidFill>
                <a:latin typeface="Aptos"/>
              </a:defRPr>
            </a:pPr>
            <a:r>
              <a:t>Gap / Our Project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983480" cy="2834640"/>
          </a:xfrm>
          <a:prstGeom prst="rect">
            <a:avLst/>
          </a:prstGeom>
          <a:noFill/>
        </p:spPr>
        <p:txBody>
          <a:bodyPr wrap="square" lIns="45720" tIns="18288" rIns="18288" bIns="18288">
            <a:noAutofit/>
          </a:bodyPr>
          <a:lstStyle/>
          <a:p>
            <a:pPr>
              <a:buChar char="•"/>
              <a:defRPr sz="1600">
                <a:solidFill>
                  <a:srgbClr val="000000"/>
                </a:solidFill>
                <a:latin typeface="Aptos"/>
              </a:defRPr>
            </a:pPr>
            <a:r>
              <a:rPr sz="2000" dirty="0"/>
              <a:t>Microcontroller-based implementations can detect, lock and display the first response.</a:t>
            </a:r>
          </a:p>
          <a:p>
            <a:pPr>
              <a:buChar char="•"/>
              <a:defRPr sz="1600">
                <a:solidFill>
                  <a:srgbClr val="000000"/>
                </a:solidFill>
                <a:latin typeface="Aptos"/>
              </a:defRPr>
            </a:pPr>
            <a:r>
              <a:rPr sz="2000" dirty="0"/>
              <a:t>Some hardware designs use flip-flops and logic gates but vary in IC choice and circuit organization.</a:t>
            </a:r>
          </a:p>
          <a:p>
            <a:pPr>
              <a:buChar char="•"/>
              <a:defRPr sz="1600">
                <a:solidFill>
                  <a:srgbClr val="000000"/>
                </a:solidFill>
                <a:latin typeface="Aptos"/>
              </a:defRPr>
            </a:pPr>
            <a:r>
              <a:rPr sz="2000" dirty="0"/>
              <a:t>Commercial systems may add displays, timers, scoring and communication features.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4983480" cy="2834640"/>
          </a:xfrm>
          <a:prstGeom prst="rect">
            <a:avLst/>
          </a:prstGeom>
          <a:noFill/>
        </p:spPr>
        <p:txBody>
          <a:bodyPr wrap="square" lIns="45720" tIns="18288" rIns="18288" bIns="18288">
            <a:noAutofit/>
          </a:bodyPr>
          <a:lstStyle/>
          <a:p>
            <a:pPr>
              <a:buChar char="•"/>
              <a:defRPr sz="1600">
                <a:solidFill>
                  <a:srgbClr val="000000"/>
                </a:solidFill>
                <a:latin typeface="Aptos"/>
              </a:defRPr>
            </a:pPr>
            <a:r>
              <a:rPr sz="2000" dirty="0"/>
              <a:t>Demonstrate the complete first-response mechanism without a microcontroller or code.</a:t>
            </a:r>
          </a:p>
          <a:p>
            <a:pPr>
              <a:buChar char="•"/>
              <a:defRPr sz="1600">
                <a:solidFill>
                  <a:srgbClr val="000000"/>
                </a:solidFill>
                <a:latin typeface="Aptos"/>
              </a:defRPr>
            </a:pPr>
            <a:r>
              <a:rPr sz="2000" dirty="0"/>
              <a:t>Use SN74HC08N AND gates for gating and CD4013BD D flip-flops for state retention.</a:t>
            </a:r>
          </a:p>
          <a:p>
            <a:pPr>
              <a:buChar char="•"/>
              <a:defRPr sz="1600">
                <a:solidFill>
                  <a:srgbClr val="000000"/>
                </a:solidFill>
                <a:latin typeface="Aptos"/>
              </a:defRPr>
            </a:pPr>
            <a:r>
              <a:rPr sz="2000" dirty="0"/>
              <a:t>Keep the prototype focused: 4 inputs, 4 LED indicators, buzzer and manual reset.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13232"/>
            <a:ext cx="12191695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424160" cy="3383280"/>
          </a:xfrm>
          <a:prstGeom prst="rect">
            <a:avLst/>
          </a:prstGeom>
          <a:noFill/>
        </p:spPr>
        <p:txBody>
          <a:bodyPr wrap="square" lIns="45720" tIns="18288" rIns="18288" bIns="18288">
            <a:noAutofit/>
          </a:bodyPr>
          <a:lstStyle/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rPr sz="2400" dirty="0"/>
              <a:t>Design a four-player first-response detection circuit using discrete logic ICs.</a:t>
            </a:r>
          </a:p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rPr sz="2400" dirty="0"/>
              <a:t>Latch the first valid response so the winning state remains stored after the button is released.</a:t>
            </a:r>
          </a:p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rPr sz="2400" dirty="0"/>
              <a:t>Block subsequent button inputs until the administrator/reset button is activated.</a:t>
            </a:r>
          </a:p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rPr sz="2400" dirty="0"/>
              <a:t>Provide immediate visual indication through four player LEDs and an audible buzzer.</a:t>
            </a:r>
          </a:p>
          <a:p>
            <a:pPr>
              <a:buChar char="•"/>
              <a:defRPr sz="1800">
                <a:solidFill>
                  <a:srgbClr val="000000"/>
                </a:solidFill>
                <a:latin typeface="Aptos"/>
              </a:defRPr>
            </a:pPr>
            <a:r>
              <a:rPr sz="2400" dirty="0"/>
              <a:t>Demonstrate practical application of AND-gate logic and D flip-flop memory.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61772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4617720"/>
            <a:ext cx="64008" cy="1051560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93392" y="4727448"/>
            <a:ext cx="822960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t>SUCCESS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5084064"/>
            <a:ext cx="8211312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300"/>
              <a:t>One winner is retained per round • Later presses do not alter the result • Reset clears the stored state • LED/buzzer feedback is observable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13232"/>
            <a:ext cx="12191695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1155680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1143000" cy="914400"/>
          </a:xfrm>
          <a:prstGeom prst="rect">
            <a:avLst/>
          </a:prstGeom>
          <a:solidFill>
            <a:srgbClr val="E7EFFF"/>
          </a:solidFill>
          <a:ln w="1905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2066544"/>
            <a:ext cx="1033271" cy="8046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>
              <a:defRPr sz="1050" b="1">
                <a:solidFill>
                  <a:srgbClr val="0A2D64"/>
                </a:solidFill>
                <a:latin typeface="Aptos"/>
              </a:defRPr>
            </a:pPr>
            <a:r>
              <a:t>Requirements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45920" y="2468880"/>
            <a:ext cx="274320" cy="0"/>
          </a:xfrm>
          <a:prstGeom prst="line">
            <a:avLst/>
          </a:prstGeom>
          <a:ln w="19050">
            <a:solidFill>
              <a:srgbClr val="003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920240" y="2011680"/>
            <a:ext cx="1143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75104" y="2066544"/>
            <a:ext cx="1033271" cy="8046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>
              <a:defRPr sz="1050" b="1">
                <a:solidFill>
                  <a:srgbClr val="0A2D64"/>
                </a:solidFill>
                <a:latin typeface="Aptos"/>
              </a:defRPr>
            </a:pPr>
            <a:r>
              <a:t>Circuit study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2468880"/>
            <a:ext cx="274320" cy="0"/>
          </a:xfrm>
          <a:prstGeom prst="line">
            <a:avLst/>
          </a:prstGeom>
          <a:ln w="19050">
            <a:solidFill>
              <a:srgbClr val="003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337560" y="2011680"/>
            <a:ext cx="1143000" cy="914400"/>
          </a:xfrm>
          <a:prstGeom prst="rect">
            <a:avLst/>
          </a:prstGeom>
          <a:solidFill>
            <a:srgbClr val="E7EFFF"/>
          </a:solidFill>
          <a:ln w="1905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92424" y="2066544"/>
            <a:ext cx="1033271" cy="8046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>
              <a:defRPr sz="1050" b="1">
                <a:solidFill>
                  <a:srgbClr val="0A2D64"/>
                </a:solidFill>
                <a:latin typeface="Aptos"/>
              </a:defRPr>
            </a:pPr>
            <a:r>
              <a:t>Logic design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80560" y="2468880"/>
            <a:ext cx="274320" cy="0"/>
          </a:xfrm>
          <a:prstGeom prst="line">
            <a:avLst/>
          </a:prstGeom>
          <a:ln w="19050">
            <a:solidFill>
              <a:srgbClr val="003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754880" y="2011680"/>
            <a:ext cx="1143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9744" y="2066544"/>
            <a:ext cx="1033271" cy="8046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>
              <a:defRPr sz="1050" b="1">
                <a:solidFill>
                  <a:srgbClr val="0A2D64"/>
                </a:solidFill>
                <a:latin typeface="Aptos"/>
              </a:defRPr>
            </a:pPr>
            <a:r>
              <a:t>Breadboard build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97880" y="2468880"/>
            <a:ext cx="274320" cy="0"/>
          </a:xfrm>
          <a:prstGeom prst="line">
            <a:avLst/>
          </a:prstGeom>
          <a:ln w="19050">
            <a:solidFill>
              <a:srgbClr val="003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172200" y="2011680"/>
            <a:ext cx="1143000" cy="914400"/>
          </a:xfrm>
          <a:prstGeom prst="rect">
            <a:avLst/>
          </a:prstGeom>
          <a:solidFill>
            <a:srgbClr val="E7EFFF"/>
          </a:solidFill>
          <a:ln w="1905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27064" y="2066544"/>
            <a:ext cx="1033271" cy="8046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>
              <a:defRPr sz="1050" b="1">
                <a:solidFill>
                  <a:srgbClr val="0A2D64"/>
                </a:solidFill>
                <a:latin typeface="Aptos"/>
              </a:defRPr>
            </a:pPr>
            <a:r>
              <a:t>Power &amp; output test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0" y="2468880"/>
            <a:ext cx="274320" cy="0"/>
          </a:xfrm>
          <a:prstGeom prst="line">
            <a:avLst/>
          </a:prstGeom>
          <a:ln w="19050">
            <a:solidFill>
              <a:srgbClr val="003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589520" y="2011680"/>
            <a:ext cx="1143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44384" y="2066544"/>
            <a:ext cx="1033271" cy="8046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>
              <a:defRPr sz="1050" b="1">
                <a:solidFill>
                  <a:srgbClr val="0A2D64"/>
                </a:solidFill>
                <a:latin typeface="Aptos"/>
              </a:defRPr>
            </a:pPr>
            <a:r>
              <a:t>Lock/reset test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32520" y="2468880"/>
            <a:ext cx="274320" cy="0"/>
          </a:xfrm>
          <a:prstGeom prst="line">
            <a:avLst/>
          </a:prstGeom>
          <a:ln w="19050">
            <a:solidFill>
              <a:srgbClr val="003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006840" y="2011680"/>
            <a:ext cx="1143000" cy="914400"/>
          </a:xfrm>
          <a:prstGeom prst="rect">
            <a:avLst/>
          </a:prstGeom>
          <a:solidFill>
            <a:srgbClr val="E7EFFF"/>
          </a:solidFill>
          <a:ln w="1905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61704" y="2066544"/>
            <a:ext cx="1033271" cy="8046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>
              <a:defRPr sz="1050" b="1">
                <a:solidFill>
                  <a:srgbClr val="0A2D64"/>
                </a:solidFill>
                <a:latin typeface="Aptos"/>
              </a:defRPr>
            </a:pPr>
            <a:r>
              <a:t>Debugging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149840" y="2468880"/>
            <a:ext cx="274320" cy="0"/>
          </a:xfrm>
          <a:prstGeom prst="line">
            <a:avLst/>
          </a:prstGeom>
          <a:ln w="19050">
            <a:solidFill>
              <a:srgbClr val="003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424160" y="2011680"/>
            <a:ext cx="11430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79024" y="2066544"/>
            <a:ext cx="1033271" cy="8046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>
              <a:defRPr sz="1050" b="1">
                <a:solidFill>
                  <a:srgbClr val="0A2D64"/>
                </a:solidFill>
                <a:latin typeface="Aptos"/>
              </a:defRPr>
            </a:pPr>
            <a:r>
              <a:t>Final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429000"/>
            <a:ext cx="21031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500" b="1">
                <a:solidFill>
                  <a:srgbClr val="EB0000"/>
                </a:solidFill>
                <a:latin typeface="Aptos"/>
              </a:defRPr>
            </a:pPr>
            <a:r>
              <a:t>Logic verification 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429000"/>
            <a:ext cx="85953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500" b="1">
                <a:solidFill>
                  <a:srgbClr val="0A2D64"/>
                </a:solidFill>
                <a:latin typeface="Aptos"/>
              </a:defRPr>
            </a:pPr>
            <a:r>
              <a:t>Button input → 74HC08 gating → CD4013 state latch → LED / buzzer output → reset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160520"/>
            <a:ext cx="91440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600" b="1">
                <a:solidFill>
                  <a:srgbClr val="147D50"/>
                </a:solidFill>
                <a:latin typeface="Aptos"/>
              </a:defRPr>
            </a:pPr>
            <a:r>
              <a:t>The implementation is hardware-driven: no firmware, database or ML model is used.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13232"/>
            <a:ext cx="12191695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3840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700" b="1">
                <a:solidFill>
                  <a:srgbClr val="EB0000"/>
                </a:solidFill>
                <a:latin typeface="Aptos"/>
              </a:defRPr>
            </a:pPr>
            <a:r>
              <a:t>Functional block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3657600" cy="621792"/>
          </a:xfrm>
          <a:prstGeom prst="rect">
            <a:avLst/>
          </a:prstGeom>
          <a:solidFill>
            <a:srgbClr val="E7EFFF"/>
          </a:solidFill>
          <a:ln w="1905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1472184"/>
            <a:ext cx="3547872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>
              <a:defRPr sz="1100" b="1">
                <a:solidFill>
                  <a:srgbClr val="0A2D64"/>
                </a:solidFill>
                <a:latin typeface="Aptos"/>
              </a:defRPr>
            </a:pPr>
            <a:r>
              <a:t>PLAYER INPUTS</a:t>
            </a:r>
            <a:br/>
            <a:r>
              <a:t>4 push buttons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14600" y="2039112"/>
            <a:ext cx="0" cy="155448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85800" y="2194560"/>
            <a:ext cx="3657600" cy="621792"/>
          </a:xfrm>
          <a:prstGeom prst="rect">
            <a:avLst/>
          </a:prstGeom>
          <a:solidFill>
            <a:srgbClr val="E7EFFF"/>
          </a:solidFill>
          <a:ln w="1905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249424"/>
            <a:ext cx="3547872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>
              <a:defRPr sz="1100" b="1">
                <a:solidFill>
                  <a:srgbClr val="0A2D64"/>
                </a:solidFill>
                <a:latin typeface="Aptos"/>
              </a:defRPr>
            </a:pPr>
            <a:r>
              <a:t>COMBINATIONAL LOGIC</a:t>
            </a:r>
            <a:br/>
            <a:r>
              <a:t>2 × SN74HC08N</a:t>
            </a:r>
            <a:br/>
            <a:r>
              <a:t>AND-gate network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816352"/>
            <a:ext cx="0" cy="155448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85800" y="2971800"/>
            <a:ext cx="3657600" cy="621792"/>
          </a:xfrm>
          <a:prstGeom prst="rect">
            <a:avLst/>
          </a:prstGeom>
          <a:solidFill>
            <a:srgbClr val="E7EFFF"/>
          </a:solidFill>
          <a:ln w="19050">
            <a:solidFill>
              <a:srgbClr val="E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3026664"/>
            <a:ext cx="3547872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>
              <a:defRPr sz="1100" b="1">
                <a:solidFill>
                  <a:srgbClr val="0A2D64"/>
                </a:solidFill>
                <a:latin typeface="Aptos"/>
              </a:defRPr>
            </a:pPr>
            <a:r>
              <a:t>SEQUENTIAL MEMORY</a:t>
            </a:r>
            <a:br/>
            <a:r>
              <a:t>2 × CD4013BD</a:t>
            </a:r>
            <a:br/>
            <a:r>
              <a:t>D flip-flops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4600" y="3593592"/>
            <a:ext cx="0" cy="155447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85800" y="3749039"/>
            <a:ext cx="3657600" cy="621792"/>
          </a:xfrm>
          <a:prstGeom prst="rect">
            <a:avLst/>
          </a:prstGeom>
          <a:solidFill>
            <a:srgbClr val="E7EFFF"/>
          </a:solidFill>
          <a:ln w="1905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" y="3803903"/>
            <a:ext cx="3547872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>
              <a:defRPr sz="1100" b="1">
                <a:solidFill>
                  <a:srgbClr val="0A2D64"/>
                </a:solidFill>
                <a:latin typeface="Aptos"/>
              </a:defRPr>
            </a:pPr>
            <a:r>
              <a:t>OUTPUTS</a:t>
            </a:r>
            <a:br/>
            <a:r>
              <a:t>4 LEDs + buzzer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14600" y="4370831"/>
            <a:ext cx="0" cy="155449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85800" y="4526280"/>
            <a:ext cx="365760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" y="4581144"/>
            <a:ext cx="3547872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noAutofit/>
          </a:bodyPr>
          <a:lstStyle/>
          <a:p>
            <a:pPr algn="ctr">
              <a:defRPr sz="1100" b="1">
                <a:solidFill>
                  <a:srgbClr val="0A2D64"/>
                </a:solidFill>
                <a:latin typeface="Aptos"/>
              </a:defRPr>
            </a:pPr>
            <a:r>
              <a:t>CONTROL</a:t>
            </a:r>
            <a:br/>
            <a:r>
              <a:t>Admin / Reset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960120"/>
            <a:ext cx="62179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700" b="1">
                <a:solidFill>
                  <a:srgbClr val="0A2D64"/>
                </a:solidFill>
                <a:latin typeface="Aptos"/>
              </a:defRPr>
            </a:pPr>
            <a:r>
              <a:t>Reference circuit schematic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462680"/>
            <a:ext cx="6629400" cy="4161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92040" y="5760720"/>
            <a:ext cx="62179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250" b="1">
                <a:solidFill>
                  <a:srgbClr val="EB0000"/>
                </a:solidFill>
                <a:latin typeface="Aptos"/>
              </a:defRPr>
            </a:pPr>
            <a:r>
              <a:t>The CD4013 stores the winner state; the 74HC08 logic uses that state to prevent later button signals from registering.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13232"/>
            <a:ext cx="12191695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05156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64008" cy="1508760"/>
          </a:xfrm>
          <a:prstGeom prst="rect">
            <a:avLst/>
          </a:prstGeom>
          <a:solidFill>
            <a:srgbClr val="003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161288"/>
            <a:ext cx="32461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t>LOGIC 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554480"/>
            <a:ext cx="3227832" cy="914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450"/>
              <a:t>2 × SN74HC08N — quad 2-input AND gates</a:t>
            </a:r>
            <a:br/>
            <a:r>
              <a:rPr sz="1450"/>
              <a:t>2 × CD4013BD — dual D-type flip-flops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051560"/>
            <a:ext cx="35204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64008" cy="1508760"/>
          </a:xfrm>
          <a:prstGeom prst="rect">
            <a:avLst/>
          </a:prstGeom>
          <a:solidFill>
            <a:srgbClr val="E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161288"/>
            <a:ext cx="32461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t>INPUT /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554480"/>
            <a:ext cx="3227832" cy="914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450"/>
              <a:t>4 × player push buttons</a:t>
            </a:r>
            <a:br/>
            <a:r>
              <a:rPr sz="1450"/>
              <a:t>1 × admin/reset button</a:t>
            </a:r>
            <a:br/>
            <a:r>
              <a:rPr sz="1450"/>
              <a:t>4 × red LEDs</a:t>
            </a:r>
            <a:br/>
            <a:r>
              <a:rPr sz="1450"/>
              <a:t>1 × buzzer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05156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1051560"/>
            <a:ext cx="64008" cy="1508760"/>
          </a:xfrm>
          <a:prstGeom prst="rect">
            <a:avLst/>
          </a:prstGeom>
          <a:solidFill>
            <a:srgbClr val="14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5592" y="1161288"/>
            <a:ext cx="324612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rPr sz="1350"/>
              <a:t>SUPPORT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1554480"/>
            <a:ext cx="3227832" cy="1051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350"/>
              <a:t>1 × NPN transistor</a:t>
            </a:r>
            <a:br/>
            <a:r>
              <a:rPr sz="1350"/>
              <a:t>5 × 1 kΩ resistors</a:t>
            </a:r>
            <a:br/>
            <a:r>
              <a:rPr sz="1350"/>
              <a:t>4 × 220 Ω resistors</a:t>
            </a:r>
            <a:br/>
            <a:r>
              <a:rPr sz="1350"/>
              <a:t>1 × 10 kΩ resistor</a:t>
            </a:r>
            <a:br/>
            <a:r>
              <a:rPr sz="1350"/>
              <a:t>4 × 1N4007 diodes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971800"/>
            <a:ext cx="5349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971800"/>
            <a:ext cx="64008" cy="1325880"/>
          </a:xfrm>
          <a:prstGeom prst="rect">
            <a:avLst/>
          </a:prstGeom>
          <a:solidFill>
            <a:srgbClr val="E67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081528"/>
            <a:ext cx="50749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t>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474720"/>
            <a:ext cx="5056631" cy="7315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450"/>
              <a:t>Breadboards • jumper wires • low-voltage DC supply / battery source • connecting hardware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971800"/>
            <a:ext cx="5257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971800"/>
            <a:ext cx="64008" cy="1325880"/>
          </a:xfrm>
          <a:prstGeom prst="rect">
            <a:avLst/>
          </a:prstGeom>
          <a:solidFill>
            <a:srgbClr val="0A2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1" y="3081528"/>
            <a:ext cx="498348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600" b="1">
                <a:solidFill>
                  <a:srgbClr val="0A2D64"/>
                </a:solidFill>
                <a:latin typeface="Aptos"/>
              </a:defRPr>
            </a:pPr>
            <a:r>
              <a:t>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3474720"/>
            <a:ext cx="4965192" cy="731519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50" b="0">
                <a:solidFill>
                  <a:srgbClr val="000000"/>
                </a:solidFill>
                <a:latin typeface="Aptos"/>
              </a:defRPr>
            </a:pPr>
            <a:r>
              <a:rPr sz="1450"/>
              <a:t>No software or microcontroller firmware. The logic is implemented directly in hardware.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6200000">
            <a:off x="5042665" y="2221555"/>
            <a:ext cx="1675330" cy="591901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572000" y="6172200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ptos"/>
              </a:defRPr>
            </a:pPr>
            <a:r>
              <a:t>Breadboard prototype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13232"/>
            <a:ext cx="12191695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960119"/>
            <a:ext cx="46634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400" b="1">
                <a:solidFill>
                  <a:srgbClr val="0A2D64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79" y="914400"/>
            <a:ext cx="1417320" cy="411480"/>
          </a:xfrm>
          <a:prstGeom prst="rect">
            <a:avLst/>
          </a:prstGeom>
          <a:solidFill>
            <a:srgbClr val="E7EFFF"/>
          </a:solidFill>
          <a:ln w="127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79" y="987552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200" b="1">
                <a:solidFill>
                  <a:srgbClr val="0A2D64"/>
                </a:solidFill>
                <a:latin typeface="Aptos"/>
              </a:defRPr>
            </a:pPr>
            <a:r>
              <a:t>Month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599" y="914400"/>
            <a:ext cx="1417320" cy="411480"/>
          </a:xfrm>
          <a:prstGeom prst="rect">
            <a:avLst/>
          </a:prstGeom>
          <a:solidFill>
            <a:srgbClr val="E7EFFF"/>
          </a:solidFill>
          <a:ln w="127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599" y="987552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200" b="1">
                <a:solidFill>
                  <a:srgbClr val="0A2D64"/>
                </a:solidFill>
                <a:latin typeface="Aptos"/>
              </a:defRPr>
            </a:pPr>
            <a:r>
              <a:t>Month 2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19" y="914400"/>
            <a:ext cx="1417320" cy="411480"/>
          </a:xfrm>
          <a:prstGeom prst="rect">
            <a:avLst/>
          </a:prstGeom>
          <a:solidFill>
            <a:srgbClr val="E7EFFF"/>
          </a:solidFill>
          <a:ln w="127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19" y="987552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200" b="1">
                <a:solidFill>
                  <a:srgbClr val="0A2D64"/>
                </a:solidFill>
                <a:latin typeface="Aptos"/>
              </a:defRPr>
            </a:pPr>
            <a:r>
              <a:t>Month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21240" y="914400"/>
            <a:ext cx="1417320" cy="411480"/>
          </a:xfrm>
          <a:prstGeom prst="rect">
            <a:avLst/>
          </a:prstGeom>
          <a:solidFill>
            <a:srgbClr val="E7EFFF"/>
          </a:solidFill>
          <a:ln w="127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21240" y="987552"/>
            <a:ext cx="14173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200" b="1">
                <a:solidFill>
                  <a:srgbClr val="0A2D64"/>
                </a:solidFill>
                <a:latin typeface="Aptos"/>
              </a:defRPr>
            </a:pPr>
            <a:r>
              <a:t>Month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325880"/>
            <a:ext cx="45720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150" b="0">
                <a:solidFill>
                  <a:srgbClr val="000000"/>
                </a:solidFill>
                <a:latin typeface="Aptos"/>
              </a:defRPr>
            </a:pPr>
            <a:r>
              <a:t>Topic selection &amp; requirement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79" y="1325880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86599" y="1325880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03919" y="1325880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921240" y="1325880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42431" y="1399032"/>
            <a:ext cx="1271016" cy="292608"/>
          </a:xfrm>
          <a:prstGeom prst="rect">
            <a:avLst/>
          </a:prstGeom>
          <a:solidFill>
            <a:srgbClr val="0037AA"/>
          </a:solidFill>
          <a:ln w="1270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1984248"/>
            <a:ext cx="45720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150" b="0">
                <a:solidFill>
                  <a:srgbClr val="000000"/>
                </a:solidFill>
                <a:latin typeface="Aptos"/>
              </a:defRPr>
            </a:pPr>
            <a:r>
              <a:t>Circuit study / component identification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79" y="1984248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86599" y="1984248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503919" y="1984248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21240" y="1984248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42431" y="2057400"/>
            <a:ext cx="2688336" cy="292608"/>
          </a:xfrm>
          <a:prstGeom prst="rect">
            <a:avLst/>
          </a:prstGeom>
          <a:solidFill>
            <a:srgbClr val="0037AA"/>
          </a:solidFill>
          <a:ln w="1270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2642615"/>
            <a:ext cx="45720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150" b="0">
                <a:solidFill>
                  <a:srgbClr val="000000"/>
                </a:solidFill>
                <a:latin typeface="Aptos"/>
              </a:defRPr>
            </a:pPr>
            <a:r>
              <a:t>Breadboard implementation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79" y="2642615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86599" y="2642615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503919" y="2642615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921240" y="2642615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159751" y="2715768"/>
            <a:ext cx="2688336" cy="292608"/>
          </a:xfrm>
          <a:prstGeom prst="rect">
            <a:avLst/>
          </a:prstGeom>
          <a:solidFill>
            <a:srgbClr val="0037AA"/>
          </a:solidFill>
          <a:ln w="1270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3300984"/>
            <a:ext cx="45720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150" b="0">
                <a:solidFill>
                  <a:srgbClr val="000000"/>
                </a:solidFill>
                <a:latin typeface="Aptos"/>
              </a:defRPr>
            </a:pPr>
            <a:r>
              <a:t>Power + input/output testing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79" y="3300984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086599" y="3300984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503919" y="3300984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921240" y="3300984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577072" y="3374136"/>
            <a:ext cx="2688336" cy="292608"/>
          </a:xfrm>
          <a:prstGeom prst="rect">
            <a:avLst/>
          </a:prstGeom>
          <a:solidFill>
            <a:srgbClr val="0037AA"/>
          </a:solidFill>
          <a:ln w="1270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3959352"/>
            <a:ext cx="45720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150" b="0">
                <a:solidFill>
                  <a:srgbClr val="000000"/>
                </a:solidFill>
                <a:latin typeface="Aptos"/>
              </a:defRPr>
            </a:pPr>
            <a:r>
              <a:t>Lock/reset verification &amp; debugging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79" y="395935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86599" y="395935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503919" y="395935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921240" y="3959352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577072" y="4032504"/>
            <a:ext cx="2688336" cy="292608"/>
          </a:xfrm>
          <a:prstGeom prst="rect">
            <a:avLst/>
          </a:prstGeom>
          <a:solidFill>
            <a:srgbClr val="0037AA"/>
          </a:solidFill>
          <a:ln w="1270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5840" y="4617720"/>
            <a:ext cx="45720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150" b="1">
                <a:solidFill>
                  <a:srgbClr val="000000"/>
                </a:solidFill>
                <a:latin typeface="Aptos"/>
              </a:defRPr>
            </a:pPr>
            <a:r>
              <a:t>Documentation / PPT / final demonstration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79" y="4617720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086599" y="4617720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503919" y="4617720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921240" y="4617720"/>
            <a:ext cx="1417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94392" y="4690872"/>
            <a:ext cx="1271016" cy="292608"/>
          </a:xfrm>
          <a:prstGeom prst="rect">
            <a:avLst/>
          </a:prstGeom>
          <a:solidFill>
            <a:srgbClr val="0037AA"/>
          </a:solidFill>
          <a:ln w="12700">
            <a:solidFill>
              <a:srgbClr val="003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03120" y="5486400"/>
            <a:ext cx="7955279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200" b="0">
                <a:solidFill>
                  <a:srgbClr val="5F5F5F"/>
                </a:solidFill>
                <a:latin typeface="Aptos"/>
              </a:defRPr>
            </a:pPr>
            <a:r>
              <a:t>Planned work sequence; update month labels if your actual project schedule differs.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832" y="713232"/>
            <a:ext cx="12191695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81360" cy="4206240"/>
          </a:xfrm>
          <a:prstGeom prst="rect">
            <a:avLst/>
          </a:prstGeom>
          <a:noFill/>
        </p:spPr>
        <p:txBody>
          <a:bodyPr wrap="square" lIns="45720" tIns="18288" rIns="18288" bIns="18288">
            <a:noAutofit/>
          </a:bodyPr>
          <a:lstStyle/>
          <a:p>
            <a:pPr>
              <a:buChar char="•"/>
              <a:defRPr sz="1320">
                <a:solidFill>
                  <a:srgbClr val="000000"/>
                </a:solidFill>
                <a:latin typeface="Aptos"/>
              </a:defRPr>
            </a:pPr>
            <a:r>
              <a:rPr sz="1600" dirty="0"/>
              <a:t>1. Texas Instruments, “SN74HC08 Quadruple 2-Input AND Gates,” product/data-sheet documentation.</a:t>
            </a:r>
          </a:p>
          <a:p>
            <a:pPr>
              <a:buChar char="•"/>
              <a:defRPr sz="1320">
                <a:solidFill>
                  <a:srgbClr val="000000"/>
                </a:solidFill>
                <a:latin typeface="Aptos"/>
              </a:defRPr>
            </a:pPr>
            <a:r>
              <a:rPr sz="1600" dirty="0"/>
              <a:t>2. Texas Instruments, “CD4013B CMOS Dual D-Type Flip-Flop,” product/data-sheet documentation.</a:t>
            </a:r>
          </a:p>
          <a:p>
            <a:pPr>
              <a:buChar char="•"/>
              <a:defRPr sz="1320">
                <a:solidFill>
                  <a:srgbClr val="000000"/>
                </a:solidFill>
                <a:latin typeface="Aptos"/>
              </a:defRPr>
            </a:pPr>
            <a:r>
              <a:rPr sz="1600" dirty="0"/>
              <a:t>3. Sundaresan, Y. B. &amp; Perumal, K., “A Comparative Analysis of Low Cost Solutions for Quiz Controller and Classroom Access Control Systems,” 2016.</a:t>
            </a:r>
          </a:p>
          <a:p>
            <a:pPr>
              <a:buChar char="•"/>
              <a:defRPr sz="1320">
                <a:solidFill>
                  <a:srgbClr val="000000"/>
                </a:solidFill>
                <a:latin typeface="Aptos"/>
              </a:defRPr>
            </a:pPr>
            <a:r>
              <a:rPr sz="1600" dirty="0"/>
              <a:t>4. Havizul &amp; Zulkarnain, “Quiz Bell Design Using </a:t>
            </a:r>
            <a:r>
              <a:rPr sz="1600" dirty="0" err="1"/>
              <a:t>NodeMCU</a:t>
            </a:r>
            <a:r>
              <a:rPr sz="1600" dirty="0"/>
              <a:t> ESP8266 for Quiz Contest at IAIN Pontianak,” </a:t>
            </a:r>
            <a:r>
              <a:rPr sz="1600" dirty="0" err="1"/>
              <a:t>Jurnal</a:t>
            </a:r>
            <a:r>
              <a:rPr sz="1600" dirty="0"/>
              <a:t> </a:t>
            </a:r>
            <a:r>
              <a:rPr sz="1600" dirty="0" err="1"/>
              <a:t>Edukasi</a:t>
            </a:r>
            <a:r>
              <a:rPr sz="1600" dirty="0"/>
              <a:t> Elektro, 2023.</a:t>
            </a:r>
          </a:p>
          <a:p>
            <a:pPr>
              <a:buChar char="•"/>
              <a:defRPr sz="1320">
                <a:solidFill>
                  <a:srgbClr val="000000"/>
                </a:solidFill>
                <a:latin typeface="Aptos"/>
              </a:defRPr>
            </a:pPr>
            <a:r>
              <a:rPr sz="1600" dirty="0"/>
              <a:t>5. Yan, S. &amp; Xu, D., “Portable Buzzer Circuit Design for Reform of Electronic Technology Experiments,” Frontiers in Computing and Intelligent Systems, 2024.</a:t>
            </a:r>
          </a:p>
          <a:p>
            <a:pPr>
              <a:buChar char="•"/>
              <a:defRPr sz="1320">
                <a:solidFill>
                  <a:srgbClr val="000000"/>
                </a:solidFill>
                <a:latin typeface="Aptos"/>
              </a:defRPr>
            </a:pPr>
            <a:r>
              <a:rPr sz="1600" dirty="0"/>
              <a:t>6. </a:t>
            </a:r>
            <a:r>
              <a:rPr sz="1600" dirty="0" err="1"/>
              <a:t>Konade</a:t>
            </a:r>
            <a:r>
              <a:rPr sz="1600" dirty="0"/>
              <a:t>, S. B. et al., “Digital Quiz Buzzer System Using Microcontroller,” IJRASET, 2026.</a:t>
            </a:r>
          </a:p>
          <a:p>
            <a:pPr>
              <a:buChar char="•"/>
              <a:defRPr sz="1320">
                <a:solidFill>
                  <a:srgbClr val="000000"/>
                </a:solidFill>
                <a:latin typeface="Aptos"/>
              </a:defRPr>
            </a:pPr>
            <a:r>
              <a:rPr sz="1600" dirty="0"/>
              <a:t>7. Project circuit reference / schematic used during prototype study.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4920"/>
            <a:ext cx="20116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300" b="1">
                <a:solidFill>
                  <a:srgbClr val="EB0000"/>
                </a:solidFill>
                <a:latin typeface="Aptos"/>
              </a:defRPr>
            </a:pPr>
            <a:r>
              <a:rPr sz="1400"/>
              <a:t>Technical references: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5074920"/>
            <a:ext cx="71323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l">
              <a:defRPr sz="1200" b="0">
                <a:solidFill>
                  <a:srgbClr val="0A2D64"/>
                </a:solidFill>
                <a:latin typeface="Aptos"/>
              </a:defRPr>
            </a:pPr>
            <a:r>
              <a:rPr sz="1300"/>
              <a:t>ti.com/product/SN74HC08   •   ti.com/product/CD4013B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13232"/>
            <a:ext cx="12191695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0" y="2057400"/>
            <a:ext cx="489204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3800" b="1">
                <a:solidFill>
                  <a:srgbClr val="EB0000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880360"/>
            <a:ext cx="48920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2100" b="1">
                <a:solidFill>
                  <a:srgbClr val="0A2D64"/>
                </a:solidFill>
                <a:latin typeface="Aptos"/>
              </a:defRPr>
            </a:pPr>
            <a:r>
              <a:t>Quiz Buzzer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474720"/>
            <a:ext cx="672084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600" b="0">
                <a:solidFill>
                  <a:srgbClr val="5F5F5F"/>
                </a:solidFill>
                <a:latin typeface="Aptos"/>
              </a:defRPr>
            </a:pPr>
            <a:r>
              <a:t>A hardware-only first-response detection prototype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713232"/>
            <a:ext cx="12191695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0" y="1965960"/>
            <a:ext cx="448056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4000" b="1">
                <a:solidFill>
                  <a:srgbClr val="EB0000"/>
                </a:solidFill>
                <a:latin typeface="Aptos"/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926080"/>
            <a:ext cx="44805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2000" b="1">
                <a:solidFill>
                  <a:srgbClr val="0A2D64"/>
                </a:solidFill>
                <a:latin typeface="Aptos"/>
              </a:defRPr>
            </a:pPr>
            <a:r>
              <a:t>Quiz Buzzer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703320"/>
            <a:ext cx="81381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noAutofit/>
          </a:bodyPr>
          <a:lstStyle/>
          <a:p>
            <a:pPr algn="ctr">
              <a:defRPr sz="1400" b="0">
                <a:solidFill>
                  <a:srgbClr val="5F5F5F"/>
                </a:solidFill>
                <a:latin typeface="Aptos"/>
              </a:defRPr>
            </a:pPr>
            <a:r>
              <a:t>Key concepts: AND-gate logic • D flip-flop memory • first-press latching • reset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1316</Words>
  <Application>Microsoft Office PowerPoint</Application>
  <PresentationFormat>Widescreen</PresentationFormat>
  <Paragraphs>146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Adarsh Maurya</cp:lastModifiedBy>
  <cp:revision>3</cp:revision>
  <dcterms:created xsi:type="dcterms:W3CDTF">2013-01-27T09:14:16Z</dcterms:created>
  <dcterms:modified xsi:type="dcterms:W3CDTF">2026-09-29T14:41:52Z</dcterms:modified>
  <cp:category/>
</cp:coreProperties>
</file>